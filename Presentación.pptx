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486c24ece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486c24ece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b486c24ece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b486c24ece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487f3bdee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b487f3bdee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b487f3bde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b487f3bde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b487f3bdee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b487f3bdee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487f3bdee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b487f3bdee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b487f3bdee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b487f3bdee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487f3bdee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b487f3bdee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b487f3bdee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b487f3bdee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b487f3bdee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b487f3bdee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b487f3bdee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b487f3bdee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487f3bdee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b487f3bdee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418575" y="1750275"/>
            <a:ext cx="8413800" cy="204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5300">
                <a:latin typeface="MS Gothic"/>
                <a:ea typeface="MS Gothic"/>
                <a:cs typeface="MS Gothic"/>
                <a:sym typeface="MS Gothic"/>
              </a:rPr>
              <a:t>隼</a:t>
            </a:r>
            <a:r>
              <a:rPr lang="es" sz="5300">
                <a:latin typeface="Trebuchet MS"/>
                <a:ea typeface="Trebuchet MS"/>
                <a:cs typeface="Trebuchet MS"/>
                <a:sym typeface="Trebuchet MS"/>
              </a:rPr>
              <a:t> MOTORBOT</a:t>
            </a:r>
            <a:endParaRPr sz="53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520225" y="3218300"/>
            <a:ext cx="6509700" cy="3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Autor: Alonso Carrera Martínez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INTRODUCCIÓN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418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es MOTORBOT?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¿Cómo surge MOTORBOT?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¿Cuál es el objetivo de MOTORBOT?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¿Qué problema se trata de solucionar?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 title="moto_sin_fond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3500" y="246977"/>
            <a:ext cx="9144000" cy="49916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DATASET Y SCRAPER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Dataset: </a:t>
            </a:r>
            <a:r>
              <a:rPr i="1" lang="es"/>
              <a:t>Kaggle - Motorcycle Technical Specifications</a:t>
            </a:r>
            <a:r>
              <a:rPr lang="es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Scripts para eliminar columnas, normalizar y unificar dataset.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¿Porque se usa un scraper?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Selenium para cargar páginas modernas.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30275" y="1561225"/>
            <a:ext cx="1666149" cy="1740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 rotWithShape="1">
          <a:blip r:embed="rId4">
            <a:alphaModFix/>
          </a:blip>
          <a:srcRect b="41130" l="13675" r="64105" t="35792"/>
          <a:stretch/>
        </p:blipFill>
        <p:spPr>
          <a:xfrm>
            <a:off x="4525475" y="3381925"/>
            <a:ext cx="2031725" cy="118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Base de Datos de Grafos con Neo4j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Permite Modelar la información de forma semántica mediante nodos </a:t>
            </a:r>
            <a:r>
              <a:rPr lang="es"/>
              <a:t>interconectados</a:t>
            </a:r>
            <a:r>
              <a:rPr lang="es"/>
              <a:t>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s"/>
              <a:t>Esquema con dos nodos y una relación:</a:t>
            </a:r>
            <a:endParaRPr i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:Brand : nodo que representa fabricantes y agrupa.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:FABRICA : relación conecta marca con su modelo.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:Motorcycle : nodo con las 13 propiedades de las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			fichas técnicas.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0800" y="1935500"/>
            <a:ext cx="2957325" cy="27884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COMPONENTES DEL SISTEMA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s" u="sng"/>
              <a:t>LLM:</a:t>
            </a:r>
            <a:r>
              <a:rPr lang="es"/>
              <a:t> Groq (llama-3.1-8b-instant)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s" u="sng"/>
              <a:t>Orquestación RAG:</a:t>
            </a:r>
            <a:r>
              <a:rPr lang="es"/>
              <a:t> LlamaIndex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s" u="sng"/>
              <a:t>Embeddings:</a:t>
            </a:r>
            <a:r>
              <a:rPr lang="es"/>
              <a:t> Ollama (llama-3)</a:t>
            </a:r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 rotWithShape="1">
          <a:blip r:embed="rId3">
            <a:alphaModFix/>
          </a:blip>
          <a:srcRect b="6207" l="1731" r="64905" t="7578"/>
          <a:stretch/>
        </p:blipFill>
        <p:spPr>
          <a:xfrm>
            <a:off x="4750000" y="1970425"/>
            <a:ext cx="1518500" cy="149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/>
          <p:cNvPicPr preferRelativeResize="0"/>
          <p:nvPr/>
        </p:nvPicPr>
        <p:blipFill rotWithShape="1">
          <a:blip r:embed="rId4">
            <a:alphaModFix/>
          </a:blip>
          <a:srcRect b="42381" l="12156" r="75213" t="36828"/>
          <a:stretch/>
        </p:blipFill>
        <p:spPr>
          <a:xfrm>
            <a:off x="6471600" y="696900"/>
            <a:ext cx="1618349" cy="149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7"/>
          <p:cNvPicPr preferRelativeResize="0"/>
          <p:nvPr/>
        </p:nvPicPr>
        <p:blipFill rotWithShape="1">
          <a:blip r:embed="rId5">
            <a:alphaModFix/>
          </a:blip>
          <a:srcRect b="41601" l="71299" r="14082" t="32409"/>
          <a:stretch/>
        </p:blipFill>
        <p:spPr>
          <a:xfrm>
            <a:off x="6771025" y="2731050"/>
            <a:ext cx="1498474" cy="149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INGENIERÍA DE PROMPTS</a:t>
            </a:r>
            <a:endParaRPr/>
          </a:p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3" name="Google Shape;9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97675"/>
            <a:ext cx="4745249" cy="1552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42525" y="2325250"/>
            <a:ext cx="5322026" cy="111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09375" y="3208625"/>
            <a:ext cx="4334626" cy="174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FLUJO DE EJECUCIÓN DE UNA CONSULTA</a:t>
            </a:r>
            <a:endParaRPr/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AutoNum type="arabicPeriod"/>
            </a:pPr>
            <a:r>
              <a:rPr i="1" lang="es" sz="1400">
                <a:solidFill>
                  <a:srgbClr val="999999"/>
                </a:solidFill>
              </a:rPr>
              <a:t>Consulta:</a:t>
            </a:r>
            <a:r>
              <a:rPr lang="es" sz="1400">
                <a:solidFill>
                  <a:srgbClr val="999999"/>
                </a:solidFill>
              </a:rPr>
              <a:t> El usuario escribe "Quiero una Yamaha deportiva".</a:t>
            </a:r>
            <a:endParaRPr sz="1400">
              <a:solidFill>
                <a:srgbClr val="999999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400">
                <a:solidFill>
                  <a:srgbClr val="999999"/>
                </a:solidFill>
              </a:rPr>
              <a:t> </a:t>
            </a:r>
            <a:endParaRPr sz="1400">
              <a:solidFill>
                <a:srgbClr val="999999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AutoNum type="arabicPeriod" startAt="2"/>
            </a:pPr>
            <a:r>
              <a:rPr i="1" lang="es" sz="1400">
                <a:solidFill>
                  <a:srgbClr val="999999"/>
                </a:solidFill>
              </a:rPr>
              <a:t>Vectorización (Ollama):</a:t>
            </a:r>
            <a:r>
              <a:rPr lang="es" sz="1400">
                <a:solidFill>
                  <a:srgbClr val="999999"/>
                </a:solidFill>
              </a:rPr>
              <a:t> El texto se convierte en números (embeddings), todo esto localmente.</a:t>
            </a:r>
            <a:endParaRPr sz="14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400">
                <a:solidFill>
                  <a:srgbClr val="999999"/>
                </a:solidFill>
              </a:rPr>
              <a:t> </a:t>
            </a:r>
            <a:endParaRPr sz="1400">
              <a:solidFill>
                <a:srgbClr val="999999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AutoNum type="arabicPeriod" startAt="3"/>
            </a:pPr>
            <a:r>
              <a:rPr i="1" lang="es" sz="1400">
                <a:solidFill>
                  <a:srgbClr val="999999"/>
                </a:solidFill>
              </a:rPr>
              <a:t>Recuperación (LlamaIndex + Neo4j):</a:t>
            </a:r>
            <a:r>
              <a:rPr lang="es" sz="1400">
                <a:solidFill>
                  <a:srgbClr val="999999"/>
                </a:solidFill>
              </a:rPr>
              <a:t> El sistema busca en la base de datos los nodos de motos que coincidan semánticamente con "Yamaha" y "Deportiva".</a:t>
            </a:r>
            <a:endParaRPr sz="14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400">
                <a:solidFill>
                  <a:srgbClr val="999999"/>
                </a:solidFill>
              </a:rPr>
              <a:t> </a:t>
            </a:r>
            <a:endParaRPr sz="1400">
              <a:solidFill>
                <a:srgbClr val="999999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AutoNum type="arabicPeriod" startAt="4"/>
            </a:pPr>
            <a:r>
              <a:rPr i="1" lang="es" sz="1400">
                <a:solidFill>
                  <a:srgbClr val="999999"/>
                </a:solidFill>
              </a:rPr>
              <a:t>Inferencia (Groq):</a:t>
            </a:r>
            <a:r>
              <a:rPr lang="es" sz="1400">
                <a:solidFill>
                  <a:srgbClr val="999999"/>
                </a:solidFill>
              </a:rPr>
              <a:t> Se envían a la nube la ficha técnica de las motos encontradas (contexto) y la consulta del usuario.</a:t>
            </a:r>
            <a:endParaRPr sz="14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400">
                <a:solidFill>
                  <a:srgbClr val="999999"/>
                </a:solidFill>
              </a:rPr>
              <a:t> </a:t>
            </a:r>
            <a:endParaRPr sz="1400">
              <a:solidFill>
                <a:srgbClr val="999999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AutoNum type="arabicPeriod" startAt="5"/>
            </a:pPr>
            <a:r>
              <a:rPr i="1" lang="es" sz="1400">
                <a:solidFill>
                  <a:srgbClr val="999999"/>
                </a:solidFill>
              </a:rPr>
              <a:t>Respuesta:</a:t>
            </a:r>
            <a:r>
              <a:rPr lang="es" sz="1400">
                <a:solidFill>
                  <a:srgbClr val="999999"/>
                </a:solidFill>
              </a:rPr>
              <a:t> Groq procesa todo rápidamente y devuelve una respuesta argumentada.</a:t>
            </a:r>
            <a:endParaRPr sz="14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STREAMLIT</a:t>
            </a:r>
            <a:endParaRPr/>
          </a:p>
        </p:txBody>
      </p:sp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Interfaz de Usuario.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Integrada nativamente con Python y LlamaIndex.</a:t>
            </a:r>
            <a:endParaRPr/>
          </a:p>
        </p:txBody>
      </p:sp>
      <p:pic>
        <p:nvPicPr>
          <p:cNvPr id="108" name="Google Shape;10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2300" y="2403600"/>
            <a:ext cx="4314449" cy="204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/>
          <p:cNvPicPr preferRelativeResize="0"/>
          <p:nvPr/>
        </p:nvPicPr>
        <p:blipFill rotWithShape="1">
          <a:blip r:embed="rId4">
            <a:alphaModFix/>
          </a:blip>
          <a:srcRect b="17097" l="14279" r="70466" t="66801"/>
          <a:stretch/>
        </p:blipFill>
        <p:spPr>
          <a:xfrm>
            <a:off x="633350" y="2403600"/>
            <a:ext cx="3451277" cy="204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DOCKER</a:t>
            </a:r>
            <a:endParaRPr/>
          </a:p>
        </p:txBody>
      </p:sp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Proyecto preparado para encapsular.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Elimina problema de dependencias cruzadas (“En mi máquina funciona”).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s"/>
              <a:t>Dos archivos:</a:t>
            </a:r>
            <a:endParaRPr i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s"/>
              <a:t>Dockerfile: entorno de ejecución de la aplicación.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s"/>
              <a:t>docker-compose.yml: orquesta distintos servicios del proyecto.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21"/>
          <p:cNvPicPr preferRelativeResize="0"/>
          <p:nvPr/>
        </p:nvPicPr>
        <p:blipFill rotWithShape="1">
          <a:blip r:embed="rId3">
            <a:alphaModFix/>
          </a:blip>
          <a:srcRect b="41288" l="64340" r="25953" t="41040"/>
          <a:stretch/>
        </p:blipFill>
        <p:spPr>
          <a:xfrm>
            <a:off x="6792400" y="2106800"/>
            <a:ext cx="1601602" cy="164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CAPAS DE SEGURIDAD</a:t>
            </a:r>
            <a:endParaRPr/>
          </a:p>
        </p:txBody>
      </p:sp>
      <p:sp>
        <p:nvSpPr>
          <p:cNvPr id="122" name="Google Shape;122;p22"/>
          <p:cNvSpPr txBox="1"/>
          <p:nvPr>
            <p:ph idx="1" type="body"/>
          </p:nvPr>
        </p:nvSpPr>
        <p:spPr>
          <a:xfrm>
            <a:off x="183400" y="14988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Aislamiento de red (localhost)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Autenticación de usuario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Protección frente a prompt injection en el LLM</a:t>
            </a:r>
            <a:endParaRPr/>
          </a:p>
        </p:txBody>
      </p:sp>
      <p:pic>
        <p:nvPicPr>
          <p:cNvPr id="123" name="Google Shape;123;p22" title="Gemini_Generated_Image_sxnppdsxnppdsxnp__1_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996" y="944271"/>
            <a:ext cx="4132000" cy="225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/>
          <p:nvPr>
            <p:ph type="title"/>
          </p:nvPr>
        </p:nvSpPr>
        <p:spPr>
          <a:xfrm>
            <a:off x="-784200" y="2008925"/>
            <a:ext cx="10712400" cy="289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4700"/>
              <a:t>CASOS DE USO</a:t>
            </a:r>
            <a:endParaRPr sz="47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4"/>
          <p:cNvSpPr txBox="1"/>
          <p:nvPr/>
        </p:nvSpPr>
        <p:spPr>
          <a:xfrm>
            <a:off x="841175" y="1394250"/>
            <a:ext cx="7756200" cy="23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4700">
                <a:solidFill>
                  <a:schemeClr val="dk1"/>
                </a:solidFill>
              </a:rPr>
              <a:t>CONCLUSIONES</a:t>
            </a:r>
            <a:endParaRPr sz="4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4700">
                <a:solidFill>
                  <a:schemeClr val="dk1"/>
                </a:solidFill>
              </a:rPr>
              <a:t> Y</a:t>
            </a:r>
            <a:endParaRPr sz="4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4700">
                <a:solidFill>
                  <a:schemeClr val="dk1"/>
                </a:solidFill>
              </a:rPr>
              <a:t>LECCIONES APRENDIDAS</a:t>
            </a:r>
            <a:endParaRPr sz="4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LÍNEAS DE TRABAJO A FUTURO</a:t>
            </a:r>
            <a:endParaRPr/>
          </a:p>
        </p:txBody>
      </p:sp>
      <p:sp>
        <p:nvSpPr>
          <p:cNvPr id="140" name="Google Shape;140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Enriquecimiento Visual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Comparador Gráfico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Integración de Datos en el Mercado</a:t>
            </a:r>
            <a:endParaRPr/>
          </a:p>
        </p:txBody>
      </p:sp>
      <p:sp>
        <p:nvSpPr>
          <p:cNvPr id="141" name="Google Shape;141;p25"/>
          <p:cNvSpPr txBox="1"/>
          <p:nvPr/>
        </p:nvSpPr>
        <p:spPr>
          <a:xfrm>
            <a:off x="4242975" y="1759550"/>
            <a:ext cx="5606100" cy="19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500">
                <a:solidFill>
                  <a:schemeClr val="dk1"/>
                </a:solidFill>
                <a:latin typeface="MS Gothic"/>
                <a:ea typeface="MS Gothic"/>
                <a:cs typeface="MS Gothic"/>
                <a:sym typeface="MS Gothic"/>
              </a:rPr>
              <a:t>隼</a:t>
            </a:r>
            <a:endParaRPr sz="1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